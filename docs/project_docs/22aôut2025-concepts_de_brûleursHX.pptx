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256" r:id="rId3"/>
    <p:sldId id="261" r:id="rId4"/>
    <p:sldId id="263" r:id="rId5"/>
    <p:sldId id="267" r:id="rId6"/>
    <p:sldId id="264" r:id="rId7"/>
    <p:sldId id="266" r:id="rId8"/>
  </p:sldIdLst>
  <p:sldSz cx="12192000" cy="6858000"/>
  <p:notesSz cx="12192000" cy="6858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39D113D-112A-41BE-9B71-2309824859FA}">
          <p14:sldIdLst>
            <p14:sldId id="256"/>
            <p14:sldId id="261"/>
            <p14:sldId id="263"/>
            <p14:sldId id="267"/>
            <p14:sldId id="264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pos="2298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ilippe Clermont" initials="P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159"/>
    <a:srgbClr val="FEECED"/>
    <a:srgbClr val="FEDA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0" autoAdjust="0"/>
    <p:restoredTop sz="94687" autoAdjust="0"/>
  </p:normalViewPr>
  <p:slideViewPr>
    <p:cSldViewPr>
      <p:cViewPr varScale="1">
        <p:scale>
          <a:sx n="107" d="100"/>
          <a:sy n="107" d="100"/>
        </p:scale>
        <p:origin x="774" y="96"/>
      </p:cViewPr>
      <p:guideLst>
        <p:guide pos="2298"/>
        <p:guide orient="horz" pos="2160"/>
      </p:guideLst>
    </p:cSldViewPr>
  </p:slideViewPr>
  <p:outlineViewPr>
    <p:cViewPr>
      <p:scale>
        <a:sx n="33" d="100"/>
        <a:sy n="33" d="100"/>
      </p:scale>
      <p:origin x="0" y="-2694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11" d="100"/>
          <a:sy n="111" d="100"/>
        </p:scale>
        <p:origin x="53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174F9B7-87BF-3A21-3AF7-28546A4931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6C0D7-C739-4FA0-84B1-EF3AF04C593F}" type="datetimeFigureOut">
              <a:rPr lang="fr-FR" smtClean="0"/>
              <a:t>19/08/2025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206C26-70D3-1A9D-E560-B2DBB70B06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BA0C89-4B99-7841-8A32-074E0E58EA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7A4B2-2BF0-49E3-BC60-F79B569366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72565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18A5505-6985-426D-80C7-5E2DEA6DC989}" type="datetimeFigureOut">
              <a:rPr lang="fr-FR"/>
              <a:t>19/08/2025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0706656-463D-4FD7-9A89-E1567EDCCF31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 of present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35A8234-8BD0-5FD4-A5BD-75F4156B6ED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162159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279930" y="279930"/>
            <a:ext cx="2519068" cy="1567088"/>
          </a:xfrm>
          <a:prstGeom prst="rect">
            <a:avLst/>
          </a:prstGeom>
        </p:spPr>
      </p:pic>
      <p:sp>
        <p:nvSpPr>
          <p:cNvPr id="6" name="Titre 5"/>
          <p:cNvSpPr>
            <a:spLocks noGrp="1"/>
          </p:cNvSpPr>
          <p:nvPr>
            <p:ph type="title" hasCustomPrompt="1"/>
          </p:nvPr>
        </p:nvSpPr>
        <p:spPr bwMode="auto">
          <a:xfrm>
            <a:off x="1452268" y="2663362"/>
            <a:ext cx="9289038" cy="661243"/>
          </a:xfrm>
        </p:spPr>
        <p:txBody>
          <a:bodyPr anchor="t"/>
          <a:lstStyle>
            <a:lvl1pPr>
              <a:defRPr/>
            </a:lvl1pPr>
          </a:lstStyle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451769" y="3550178"/>
            <a:ext cx="9289038" cy="578312"/>
          </a:xfrm>
        </p:spPr>
        <p:txBody>
          <a:bodyPr/>
          <a:lstStyle>
            <a:lvl1pPr marL="0" indent="0">
              <a:buNone/>
              <a:defRPr b="1" i="1">
                <a:latin typeface="Roboto"/>
                <a:ea typeface="Roboto"/>
              </a:defRPr>
            </a:lvl1pPr>
          </a:lstStyle>
          <a:p>
            <a:pPr lvl="0">
              <a:defRPr/>
            </a:pPr>
            <a:r>
              <a:rPr lang="fr-FR" b="1" i="1" dirty="0" err="1">
                <a:latin typeface="Roboto"/>
                <a:ea typeface="Roboto"/>
              </a:rPr>
              <a:t>Subheading</a:t>
            </a:r>
            <a:r>
              <a:rPr lang="fr-FR" b="1" i="1" dirty="0">
                <a:latin typeface="Roboto"/>
                <a:ea typeface="Roboto"/>
              </a:rPr>
              <a:t> 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451769" y="4354063"/>
            <a:ext cx="9288462" cy="122713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>
              <a:defRPr/>
            </a:pPr>
            <a:r>
              <a:rPr lang="fr-FR" dirty="0"/>
              <a:t>Description </a:t>
            </a:r>
            <a:endParaRPr dirty="0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2"/>
          </p:nvPr>
        </p:nvSpPr>
        <p:spPr bwMode="auto"/>
        <p:txBody>
          <a:bodyPr/>
          <a:lstStyle/>
          <a:p>
            <a:pPr>
              <a:defRPr/>
            </a:pPr>
            <a:fld id="{05B530AE-1784-4B42-BB99-97CA243D7B9E}" type="datetime1">
              <a:rPr lang="fr-FR"/>
              <a:t>19/08/2025</a:t>
            </a:fld>
            <a:endParaRPr lang="fr-FR"/>
          </a:p>
        </p:txBody>
      </p:sp>
      <p:sp>
        <p:nvSpPr>
          <p:cNvPr id="31" name="Espace réservé du numéro de diapositive 30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1C5540D2-B0FB-4C2D-8E6C-B3F0F4855F53}" type="slidenum">
              <a:rPr lang="fr-FR"/>
              <a:t>‹N°›</a:t>
            </a:fld>
            <a:endParaRPr lang="fr-FR"/>
          </a:p>
        </p:txBody>
      </p:sp>
      <p:sp>
        <p:nvSpPr>
          <p:cNvPr id="3" name="ZoneTexte 2"/>
          <p:cNvSpPr txBox="1"/>
          <p:nvPr userDrawn="1"/>
        </p:nvSpPr>
        <p:spPr bwMode="auto">
          <a:xfrm>
            <a:off x="4811033" y="6563749"/>
            <a:ext cx="2569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Confidential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- ©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HyPr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Space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2023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umma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162159">
              <a:alpha val="60000"/>
            </a:srgbClr>
          </a:soli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algn="l">
              <a:defRPr/>
            </a:pPr>
            <a:endParaRPr lang="fr-FR">
              <a:solidFill>
                <a:srgbClr val="0E004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84000"/>
            <a:ext cx="4436025" cy="2183378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pPr>
              <a:defRPr/>
            </a:pPr>
            <a:r>
              <a:rPr lang="fr-FR"/>
              <a:t>Summary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B2B76A9-4C8B-4607-8C4C-7736833FFF0E}" type="datetime1">
              <a:rPr lang="fr-FR"/>
              <a:t>19/08/2025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  <p:sp>
        <p:nvSpPr>
          <p:cNvPr id="7" name="사각형: 둥근 모서리 18"/>
          <p:cNvSpPr/>
          <p:nvPr userDrawn="1"/>
        </p:nvSpPr>
        <p:spPr bwMode="auto">
          <a:xfrm>
            <a:off x="5003454" y="414068"/>
            <a:ext cx="6719844" cy="6029864"/>
          </a:xfrm>
          <a:prstGeom prst="roundRect">
            <a:avLst>
              <a:gd name="adj" fmla="val 4970"/>
            </a:avLst>
          </a:prstGeom>
          <a:solidFill>
            <a:srgbClr val="FEF0F0">
              <a:alpha val="80000"/>
            </a:srgbClr>
          </a:soli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algn="l">
              <a:defRPr/>
            </a:pPr>
            <a:endParaRPr lang="ko-KR">
              <a:solidFill>
                <a:srgbClr val="0E004E"/>
              </a:solidFill>
            </a:endParaRPr>
          </a:p>
        </p:txBody>
      </p:sp>
      <p:sp>
        <p:nvSpPr>
          <p:cNvPr id="4" name="ZoneTexte 3"/>
          <p:cNvSpPr txBox="1"/>
          <p:nvPr userDrawn="1"/>
        </p:nvSpPr>
        <p:spPr bwMode="auto">
          <a:xfrm>
            <a:off x="4811033" y="6563749"/>
            <a:ext cx="2569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Confidential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- ©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HyPr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Space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2023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 of the section #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162159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" name="Titre 1"/>
          <p:cNvSpPr>
            <a:spLocks noGrp="1"/>
          </p:cNvSpPr>
          <p:nvPr>
            <p:ph type="ctrTitle" hasCustomPrompt="1"/>
          </p:nvPr>
        </p:nvSpPr>
        <p:spPr bwMode="auto">
          <a:xfrm>
            <a:off x="906686" y="2945153"/>
            <a:ext cx="10378630" cy="967694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437243F-B817-4BA3-9779-B77F16941DE7}" type="datetime1">
              <a:rPr lang="fr-FR"/>
              <a:t>19/08/2025</a:t>
            </a:fld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  <p:sp>
        <p:nvSpPr>
          <p:cNvPr id="4" name="ZoneTexte 3"/>
          <p:cNvSpPr txBox="1"/>
          <p:nvPr userDrawn="1"/>
        </p:nvSpPr>
        <p:spPr bwMode="auto">
          <a:xfrm>
            <a:off x="4811033" y="6563749"/>
            <a:ext cx="2569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Confidential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- ©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HyPr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Space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2023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 of the section #2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162159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" name="Titre 1"/>
          <p:cNvSpPr>
            <a:spLocks noGrp="1"/>
          </p:cNvSpPr>
          <p:nvPr>
            <p:ph type="ctrTitle" hasCustomPrompt="1"/>
          </p:nvPr>
        </p:nvSpPr>
        <p:spPr bwMode="auto">
          <a:xfrm>
            <a:off x="871961" y="2945153"/>
            <a:ext cx="10448080" cy="967694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BCDF39-738C-40FE-BBCD-2E873F2D78A8}" type="datetime1">
              <a:rPr lang="fr-FR"/>
              <a:t>19/08/2025</a:t>
            </a:fld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  <p:sp>
        <p:nvSpPr>
          <p:cNvPr id="6" name="ZoneTexte 5"/>
          <p:cNvSpPr txBox="1"/>
          <p:nvPr userDrawn="1"/>
        </p:nvSpPr>
        <p:spPr bwMode="auto">
          <a:xfrm>
            <a:off x="4811033" y="6563749"/>
            <a:ext cx="2569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Confidential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- ©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HyPr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Space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2023</a:t>
            </a: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 map HyPrSpac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84000"/>
            <a:ext cx="7704914" cy="2036622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pPr>
              <a:defRPr/>
            </a:pPr>
            <a:r>
              <a:rPr lang="fr-FR" dirty="0" err="1"/>
              <a:t>heading</a:t>
            </a:r>
            <a:r>
              <a:rPr lang="fr-FR" dirty="0"/>
              <a:t> - </a:t>
            </a:r>
            <a:r>
              <a:rPr lang="fr-FR" dirty="0" err="1"/>
              <a:t>left</a:t>
            </a:r>
            <a:endParaRPr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FAD25DE-0B82-4DF7-A51B-290E46604117}" type="datetime1">
              <a:rPr lang="fr-FR"/>
              <a:t>19/08/2025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+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809625" y="288000"/>
            <a:ext cx="10572750" cy="1152000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336001" y="1825625"/>
            <a:ext cx="11520000" cy="4397893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EE2CB04-3316-4E62-A6EA-2A563B884A91}" type="datetime1">
              <a:rPr lang="fr-FR"/>
              <a:t>19/08/2025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1C5540D2-B0FB-4C2D-8E6C-B3F0F4855F53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 + 2 conten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762000" y="288000"/>
            <a:ext cx="10668000" cy="1152000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335998" y="1825625"/>
            <a:ext cx="5683801" cy="4397894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683800" cy="4397894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74EEF58-F3D1-408F-99BF-0444F66B5339}" type="datetime1">
              <a:rPr lang="fr-FR"/>
              <a:t>19/08/2025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Title + 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781050" y="288000"/>
            <a:ext cx="10629900" cy="1152000"/>
          </a:xfr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336000" y="1681163"/>
            <a:ext cx="566157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332824" y="2746238"/>
            <a:ext cx="5661575" cy="3471682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683800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746238"/>
            <a:ext cx="5683800" cy="3471682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C4A407-1DF4-4986-81E9-DFABD7908CCC}" type="datetime1">
              <a:rPr lang="fr-FR"/>
              <a:t>19/08/2025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al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809625" y="288000"/>
            <a:ext cx="10572750" cy="1152000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FDC0CEF-2621-4EF2-8C9F-B26C222ECDEC}" type="datetime1">
              <a:rPr lang="fr-FR"/>
              <a:t>19/08/2025</a:t>
            </a:fld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Title on the left +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84000"/>
            <a:ext cx="4436025" cy="2036622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pPr>
              <a:defRPr/>
            </a:pPr>
            <a:r>
              <a:rPr lang="fr-FR" dirty="0" err="1"/>
              <a:t>heading</a:t>
            </a:r>
            <a:r>
              <a:rPr lang="fr-FR" dirty="0"/>
              <a:t> - </a:t>
            </a:r>
            <a:r>
              <a:rPr lang="fr-FR" dirty="0" err="1"/>
              <a:t>left</a:t>
            </a:r>
            <a:endParaRPr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4921957" y="684000"/>
            <a:ext cx="6934044" cy="5554240"/>
          </a:xfrm>
        </p:spPr>
        <p:txBody>
          <a:bodyPr/>
          <a:lstStyle>
            <a:lvl1pPr>
              <a:buSzPct val="75000"/>
              <a:defRPr sz="3200"/>
            </a:lvl1pPr>
            <a:lvl2pPr>
              <a:buSzPct val="75000"/>
              <a:defRPr sz="2800"/>
            </a:lvl2pPr>
            <a:lvl3pPr>
              <a:buSzPct val="75000"/>
              <a:defRPr sz="2400"/>
            </a:lvl3pPr>
            <a:lvl4pPr>
              <a:buSzPct val="75000"/>
              <a:defRPr sz="2000"/>
            </a:lvl4pPr>
            <a:lvl5pPr>
              <a:buSzPct val="75000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 bwMode="auto">
          <a:xfrm>
            <a:off x="336000" y="2889956"/>
            <a:ext cx="4436025" cy="33482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Text area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FAD25DE-0B82-4DF7-A51B-290E46604117}" type="datetime1">
              <a:rPr lang="fr-FR"/>
              <a:t>19/08/2025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Title on the left + Ima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334800" y="684000"/>
            <a:ext cx="5761200" cy="1896090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pPr>
              <a:defRPr/>
            </a:pPr>
            <a:r>
              <a:rPr lang="fr-FR" dirty="0" err="1"/>
              <a:t>heading</a:t>
            </a:r>
            <a:r>
              <a:rPr lang="fr-FR" dirty="0"/>
              <a:t> - </a:t>
            </a:r>
            <a:r>
              <a:rPr lang="fr-FR" dirty="0" err="1"/>
              <a:t>left</a:t>
            </a:r>
            <a:endParaRPr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6254044" y="688621"/>
            <a:ext cx="5603155" cy="55496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 bwMode="auto">
          <a:xfrm>
            <a:off x="334800" y="2777067"/>
            <a:ext cx="5761200" cy="34611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Text area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484F9B-7056-4324-A26B-8F6630EBBA1F}" type="datetime1">
              <a:rPr lang="fr-FR"/>
              <a:t>19/08/2025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+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714375" y="288000"/>
            <a:ext cx="10763250" cy="1152000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336001" y="1825625"/>
            <a:ext cx="11520000" cy="4397893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1F9D84-8AB1-49FE-AF70-7A0D31A9FE20}" type="datetime1">
              <a:rPr lang="fr-FR"/>
              <a:t>19/08/2025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1C5540D2-B0FB-4C2D-8E6C-B3F0F4855F53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 + 2 conten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742950" y="288000"/>
            <a:ext cx="10706100" cy="1152000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335998" y="1825625"/>
            <a:ext cx="5683801" cy="4397894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683800" cy="4397894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1599CE0-A1DF-460D-AA4B-56A883272051}" type="datetime1">
              <a:rPr lang="fr-FR"/>
              <a:t>19/08/2025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Title + 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723900" y="288000"/>
            <a:ext cx="10744200" cy="1152000"/>
          </a:xfr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336000" y="1681163"/>
            <a:ext cx="566157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332824" y="2746238"/>
            <a:ext cx="5661575" cy="3471682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683800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746238"/>
            <a:ext cx="5683800" cy="3471682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AFB9618-6B76-4704-B33D-3A53D9F2276E}" type="datetime1">
              <a:rPr lang="fr-FR"/>
              <a:t>19/08/2025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al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742950" y="288000"/>
            <a:ext cx="10706100" cy="1152000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E4960A-496F-4BB2-8E3D-59435DF0A2B9}" type="datetime1">
              <a:rPr lang="fr-FR"/>
              <a:t>19/08/2025</a:t>
            </a:fld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title al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835BCB3-5B0F-4762-80D2-3B80E453DAD4}" type="datetime1">
              <a:rPr lang="fr-FR"/>
              <a:t>19/08/2025</a:t>
            </a:fld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-1" y="0"/>
            <a:ext cx="6098875" cy="6858000"/>
          </a:xfrm>
          <a:prstGeom prst="rect">
            <a:avLst/>
          </a:prstGeom>
          <a:gradFill>
            <a:gsLst>
              <a:gs pos="0">
                <a:srgbClr val="2F1C4A"/>
              </a:gs>
              <a:gs pos="82000">
                <a:srgbClr val="162159"/>
              </a:gs>
            </a:gsLst>
            <a:lin ang="18900000" scaled="1"/>
          </a:gra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algn="l">
              <a:defRPr/>
            </a:pPr>
            <a:endParaRPr lang="fr-FR">
              <a:solidFill>
                <a:srgbClr val="0E004E"/>
              </a:solidFill>
            </a:endParaRPr>
          </a:p>
        </p:txBody>
      </p:sp>
      <p:sp>
        <p:nvSpPr>
          <p:cNvPr id="8" name="ZoneTexte 7"/>
          <p:cNvSpPr txBox="1"/>
          <p:nvPr userDrawn="1"/>
        </p:nvSpPr>
        <p:spPr bwMode="auto">
          <a:xfrm>
            <a:off x="4845537" y="6563749"/>
            <a:ext cx="2569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Confidential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- ©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HyPr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Space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2023</a:t>
            </a:r>
            <a:endParaRPr dirty="0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563262" y="97497"/>
            <a:ext cx="499664" cy="499662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84000"/>
            <a:ext cx="4436025" cy="2036622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 dirty="0" err="1"/>
              <a:t>heading</a:t>
            </a:r>
            <a:r>
              <a:rPr lang="fr-FR" dirty="0"/>
              <a:t> - </a:t>
            </a:r>
            <a:r>
              <a:rPr lang="fr-FR" dirty="0" err="1"/>
              <a:t>left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Title on the left +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84000"/>
            <a:ext cx="4436025" cy="2036622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pPr>
              <a:defRPr/>
            </a:pPr>
            <a:r>
              <a:rPr lang="fr-FR" dirty="0" err="1"/>
              <a:t>heading</a:t>
            </a:r>
            <a:r>
              <a:rPr lang="fr-FR" dirty="0"/>
              <a:t> - </a:t>
            </a:r>
            <a:r>
              <a:rPr lang="fr-FR" dirty="0" err="1"/>
              <a:t>left</a:t>
            </a:r>
            <a:endParaRPr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4921957" y="684000"/>
            <a:ext cx="6934044" cy="5554240"/>
          </a:xfrm>
        </p:spPr>
        <p:txBody>
          <a:bodyPr/>
          <a:lstStyle>
            <a:lvl1pPr>
              <a:buSzPct val="75000"/>
              <a:defRPr sz="3200"/>
            </a:lvl1pPr>
            <a:lvl2pPr>
              <a:buSzPct val="75000"/>
              <a:defRPr sz="2800"/>
            </a:lvl2pPr>
            <a:lvl3pPr>
              <a:buSzPct val="75000"/>
              <a:defRPr sz="2400"/>
            </a:lvl3pPr>
            <a:lvl4pPr>
              <a:buSzPct val="75000"/>
              <a:defRPr sz="2000"/>
            </a:lvl4pPr>
            <a:lvl5pPr>
              <a:buSzPct val="75000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 bwMode="auto">
          <a:xfrm>
            <a:off x="336000" y="2889956"/>
            <a:ext cx="4436025" cy="33482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Text area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2B68C2C-398A-4346-89A6-23E7E1D8B109}" type="datetime1">
              <a:rPr lang="fr-FR"/>
              <a:t>19/08/2025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Title on the left + ima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334800" y="684000"/>
            <a:ext cx="5761200" cy="1896090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pPr>
              <a:defRPr/>
            </a:pPr>
            <a:r>
              <a:rPr lang="fr-FR" dirty="0" err="1"/>
              <a:t>heading</a:t>
            </a:r>
            <a:r>
              <a:rPr lang="fr-FR" dirty="0"/>
              <a:t> - </a:t>
            </a:r>
            <a:r>
              <a:rPr lang="fr-FR" dirty="0" err="1"/>
              <a:t>left</a:t>
            </a:r>
            <a:endParaRPr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6254044" y="688621"/>
            <a:ext cx="5603155" cy="55496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 bwMode="auto">
          <a:xfrm>
            <a:off x="334800" y="2777067"/>
            <a:ext cx="5761200" cy="34611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Text area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97339C2-B342-4970-B941-9CCD604549F2}" type="datetime1">
              <a:rPr lang="fr-FR"/>
              <a:t>19/08/2025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F83E98F-BFB3-4B9D-AC65-74A4BC7A8D49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3000">
              <a:srgbClr val="162159"/>
            </a:gs>
            <a:gs pos="100000">
              <a:srgbClr val="35195B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 dirty="0"/>
              <a:t>Cliquez pour modifier les styles du texte du masque</a:t>
            </a:r>
            <a:endParaRPr dirty="0"/>
          </a:p>
          <a:p>
            <a:pPr lvl="1">
              <a:defRPr/>
            </a:pPr>
            <a:r>
              <a:rPr lang="fr-FR" dirty="0"/>
              <a:t>Deuxième niveau</a:t>
            </a:r>
            <a:endParaRPr dirty="0"/>
          </a:p>
          <a:p>
            <a:pPr lvl="2">
              <a:defRPr/>
            </a:pPr>
            <a:r>
              <a:rPr lang="fr-FR" dirty="0"/>
              <a:t>Troisième niveau</a:t>
            </a:r>
            <a:endParaRPr dirty="0"/>
          </a:p>
          <a:p>
            <a:pPr lvl="3">
              <a:defRPr/>
            </a:pPr>
            <a:r>
              <a:rPr lang="fr-FR" dirty="0"/>
              <a:t>Quatrième niveau</a:t>
            </a:r>
            <a:endParaRPr dirty="0"/>
          </a:p>
          <a:p>
            <a:pPr lvl="4">
              <a:defRPr/>
            </a:pPr>
            <a:r>
              <a:rPr lang="fr-FR" dirty="0"/>
              <a:t>Cinquième niveau</a:t>
            </a:r>
            <a:endParaRPr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10468947" y="6308206"/>
            <a:ext cx="15193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</a:defRPr>
            </a:lvl1pPr>
          </a:lstStyle>
          <a:p>
            <a:pPr>
              <a:defRPr/>
            </a:pPr>
            <a:fld id="{1802C4DE-FED1-4128-A44E-A37AF2A64B47}" type="datetime1">
              <a:rPr lang="fr-FR"/>
              <a:t>19/08/2025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203719" y="6308205"/>
            <a:ext cx="905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 Medium"/>
                <a:ea typeface="Roboto Medium"/>
                <a:cs typeface="Roboto Medium"/>
              </a:defRPr>
            </a:lvl1pPr>
          </a:lstStyle>
          <a:p>
            <a:pPr>
              <a:defRPr/>
            </a:pPr>
            <a:fld id="{1C5540D2-B0FB-4C2D-8E6C-B3F0F4855F53}" type="slidenum">
              <a:rPr lang="fr-FR"/>
              <a:t>‹N°›</a:t>
            </a:fld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13"/>
          <a:stretch/>
        </p:blipFill>
        <p:spPr bwMode="auto">
          <a:xfrm>
            <a:off x="11563263" y="97497"/>
            <a:ext cx="499662" cy="499662"/>
          </a:xfrm>
          <a:prstGeom prst="rect">
            <a:avLst/>
          </a:prstGeom>
        </p:spPr>
      </p:pic>
      <p:sp>
        <p:nvSpPr>
          <p:cNvPr id="5" name="ZoneTexte 4"/>
          <p:cNvSpPr txBox="1"/>
          <p:nvPr userDrawn="1"/>
        </p:nvSpPr>
        <p:spPr bwMode="auto">
          <a:xfrm>
            <a:off x="4811033" y="6563749"/>
            <a:ext cx="2502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Confidential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- ©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HyPr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Space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2023</a:t>
            </a:r>
            <a:endParaRPr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Bebas Kai"/>
          <a:ea typeface="+mj-ea"/>
          <a:cs typeface="+mj-cs"/>
        </a:defRPr>
      </a:lvl1pPr>
    </p:titleStyle>
    <p:bodyStyle>
      <a:lvl1pPr marL="228600" indent="-228600" algn="l" defTabSz="914400" eaLnBrk="1" hangingPunct="1">
        <a:lnSpc>
          <a:spcPct val="90000"/>
        </a:lnSpc>
        <a:spcBef>
          <a:spcPts val="1000"/>
        </a:spcBef>
        <a:buSzPct val="75000"/>
        <a:buFontTx/>
        <a:buBlip>
          <a:blip r:embed="rId14"/>
        </a:buBlip>
        <a:defRPr sz="2800">
          <a:solidFill>
            <a:schemeClr val="tx1"/>
          </a:solidFill>
          <a:latin typeface="Roboto Light"/>
          <a:ea typeface="Roboto Light"/>
          <a:cs typeface="+mn-cs"/>
        </a:defRPr>
      </a:lvl1pPr>
      <a:lvl2pPr marL="685800" indent="-228600" algn="l" defTabSz="914400" eaLnBrk="1" hangingPunct="1">
        <a:lnSpc>
          <a:spcPct val="90000"/>
        </a:lnSpc>
        <a:spcBef>
          <a:spcPts val="500"/>
        </a:spcBef>
        <a:buSzPct val="75000"/>
        <a:buFontTx/>
        <a:buBlip>
          <a:blip r:embed="rId14"/>
        </a:buBlip>
        <a:defRPr sz="2400">
          <a:solidFill>
            <a:schemeClr val="tx1"/>
          </a:solidFill>
          <a:latin typeface="Roboto Light"/>
          <a:ea typeface="Roboto Light"/>
          <a:cs typeface="+mn-cs"/>
        </a:defRPr>
      </a:lvl2pPr>
      <a:lvl3pPr marL="1143000" indent="-228600" algn="l" defTabSz="914400" eaLnBrk="1" hangingPunct="1">
        <a:lnSpc>
          <a:spcPct val="90000"/>
        </a:lnSpc>
        <a:spcBef>
          <a:spcPts val="500"/>
        </a:spcBef>
        <a:buSzPct val="75000"/>
        <a:buFontTx/>
        <a:buBlip>
          <a:blip r:embed="rId14"/>
        </a:buBlip>
        <a:defRPr sz="2000">
          <a:solidFill>
            <a:schemeClr val="tx1"/>
          </a:solidFill>
          <a:latin typeface="Roboto Light"/>
          <a:ea typeface="Roboto Light"/>
          <a:cs typeface="+mn-cs"/>
        </a:defRPr>
      </a:lvl3pPr>
      <a:lvl4pPr marL="1600200" indent="-228600" algn="l" defTabSz="914400" eaLnBrk="1" hangingPunct="1">
        <a:lnSpc>
          <a:spcPct val="90000"/>
        </a:lnSpc>
        <a:spcBef>
          <a:spcPts val="500"/>
        </a:spcBef>
        <a:buSzPct val="75000"/>
        <a:buFontTx/>
        <a:buBlip>
          <a:blip r:embed="rId14"/>
        </a:buBlip>
        <a:defRPr sz="1800">
          <a:solidFill>
            <a:schemeClr val="tx1"/>
          </a:solidFill>
          <a:latin typeface="Roboto Light"/>
          <a:ea typeface="Roboto Light"/>
          <a:cs typeface="+mn-cs"/>
        </a:defRPr>
      </a:lvl4pPr>
      <a:lvl5pPr marL="2057400" indent="-228600" algn="l" defTabSz="914400" eaLnBrk="1" hangingPunct="1">
        <a:lnSpc>
          <a:spcPct val="90000"/>
        </a:lnSpc>
        <a:spcBef>
          <a:spcPts val="500"/>
        </a:spcBef>
        <a:buSzPct val="75000"/>
        <a:buFontTx/>
        <a:buBlip>
          <a:blip r:embed="rId14"/>
        </a:buBlip>
        <a:defRPr sz="1800">
          <a:solidFill>
            <a:schemeClr val="tx1"/>
          </a:solidFill>
          <a:latin typeface="Roboto Light"/>
          <a:ea typeface="Roboto Light"/>
          <a:cs typeface="+mn-cs"/>
        </a:defRPr>
      </a:lvl5pPr>
      <a:lvl6pPr marL="25146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2051B">
                <a:alpha val="26000"/>
              </a:srgbClr>
            </a:gs>
            <a:gs pos="25000">
              <a:srgbClr val="D9490F">
                <a:alpha val="10000"/>
              </a:srgbClr>
            </a:gs>
            <a:gs pos="76000">
              <a:srgbClr val="D9490F">
                <a:alpha val="10000"/>
              </a:srgbClr>
            </a:gs>
            <a:gs pos="97391">
              <a:schemeClr val="bg1">
                <a:alpha val="30000"/>
              </a:schemeClr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 dirty="0" err="1"/>
              <a:t>Heading</a:t>
            </a:r>
            <a:endParaRPr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 dirty="0"/>
              <a:t>Cliquez pour modifier les styles du texte du masque</a:t>
            </a:r>
            <a:endParaRPr dirty="0"/>
          </a:p>
          <a:p>
            <a:pPr lvl="1">
              <a:defRPr/>
            </a:pPr>
            <a:r>
              <a:rPr lang="fr-FR" dirty="0"/>
              <a:t>Deuxième niveau</a:t>
            </a:r>
            <a:endParaRPr dirty="0"/>
          </a:p>
          <a:p>
            <a:pPr lvl="2">
              <a:defRPr/>
            </a:pPr>
            <a:r>
              <a:rPr lang="fr-FR" dirty="0"/>
              <a:t>Troisième niveau</a:t>
            </a:r>
            <a:endParaRPr dirty="0"/>
          </a:p>
          <a:p>
            <a:pPr lvl="3">
              <a:defRPr/>
            </a:pPr>
            <a:r>
              <a:rPr lang="fr-FR" dirty="0"/>
              <a:t>Quatrième niveau</a:t>
            </a:r>
            <a:endParaRPr dirty="0"/>
          </a:p>
          <a:p>
            <a:pPr lvl="4">
              <a:defRPr/>
            </a:pPr>
            <a:r>
              <a:rPr lang="fr-FR" dirty="0"/>
              <a:t>Cinquième niveau</a:t>
            </a:r>
            <a:endParaRPr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10468947" y="6308206"/>
            <a:ext cx="15193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</a:defRPr>
            </a:lvl1pPr>
          </a:lstStyle>
          <a:p>
            <a:pPr>
              <a:defRPr/>
            </a:pPr>
            <a:fld id="{0FAD7310-98A2-469C-8884-07EBCCE3D7E7}" type="datetime1">
              <a:rPr lang="fr-FR"/>
              <a:t>19/08/2025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203719" y="6308205"/>
            <a:ext cx="905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Roboto Medium"/>
                <a:ea typeface="Roboto Medium"/>
                <a:cs typeface="Roboto Medium"/>
              </a:defRPr>
            </a:lvl1pPr>
          </a:lstStyle>
          <a:p>
            <a:pPr>
              <a:defRPr/>
            </a:pPr>
            <a:fld id="{1C5540D2-B0FB-4C2D-8E6C-B3F0F4855F53}" type="slidenum">
              <a:rPr lang="fr-FR"/>
              <a:t>‹N°›</a:t>
            </a:fld>
            <a:endParaRPr lang="fr-FR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11563262" y="97497"/>
            <a:ext cx="499664" cy="499662"/>
          </a:xfrm>
          <a:prstGeom prst="rect">
            <a:avLst/>
          </a:prstGeom>
        </p:spPr>
      </p:pic>
      <p:sp>
        <p:nvSpPr>
          <p:cNvPr id="8" name="ZoneTexte 7"/>
          <p:cNvSpPr txBox="1"/>
          <p:nvPr userDrawn="1"/>
        </p:nvSpPr>
        <p:spPr bwMode="auto">
          <a:xfrm>
            <a:off x="4811033" y="6563749"/>
            <a:ext cx="2523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1200" dirty="0" err="1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Confidential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- </a:t>
            </a:r>
            <a:r>
              <a:rPr lang="fr-FR" sz="14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©</a:t>
            </a:r>
            <a:r>
              <a:rPr lang="fr-FR" sz="1200" dirty="0">
                <a:solidFill>
                  <a:srgbClr val="FF0000"/>
                </a:solidFill>
                <a:latin typeface="Roboto Medium"/>
                <a:ea typeface="Roboto Medium"/>
                <a:cs typeface="Roboto Medium"/>
              </a:rPr>
              <a:t> HyPrSpace 2023</a:t>
            </a:r>
            <a:endParaRPr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rgbClr val="162159"/>
          </a:solidFill>
          <a:latin typeface="Bebas Kai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SzPct val="75000"/>
        <a:buFontTx/>
        <a:buBlip>
          <a:blip r:embed="rId10"/>
        </a:buBlip>
        <a:defRPr sz="2800">
          <a:solidFill>
            <a:srgbClr val="162159"/>
          </a:solidFill>
          <a:latin typeface="Roboto Light"/>
          <a:ea typeface="Roboto Light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SzPct val="75000"/>
        <a:buFontTx/>
        <a:buBlip>
          <a:blip r:embed="rId10"/>
        </a:buBlip>
        <a:defRPr sz="2400">
          <a:solidFill>
            <a:srgbClr val="162159"/>
          </a:solidFill>
          <a:latin typeface="Roboto Light"/>
          <a:ea typeface="Roboto Light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SzPct val="75000"/>
        <a:buFontTx/>
        <a:buBlip>
          <a:blip r:embed="rId10"/>
        </a:buBlip>
        <a:defRPr sz="2000">
          <a:solidFill>
            <a:srgbClr val="162159"/>
          </a:solidFill>
          <a:latin typeface="Roboto Light"/>
          <a:ea typeface="Roboto Light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SzPct val="75000"/>
        <a:buFontTx/>
        <a:buBlip>
          <a:blip r:embed="rId10"/>
        </a:buBlip>
        <a:defRPr sz="1800">
          <a:solidFill>
            <a:srgbClr val="162159"/>
          </a:solidFill>
          <a:latin typeface="Roboto Light"/>
          <a:ea typeface="Roboto Light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SzPct val="75000"/>
        <a:buFontTx/>
        <a:buBlip>
          <a:blip r:embed="rId10"/>
        </a:buBlip>
        <a:defRPr sz="1800">
          <a:solidFill>
            <a:srgbClr val="162159"/>
          </a:solidFill>
          <a:latin typeface="Roboto Light"/>
          <a:ea typeface="Roboto Light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9DE6B2-465E-76F1-50C6-6CBD9B9F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Weekly HX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73F297-52FA-4FE7-368E-15396CA3AE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Concepts d’échangeurs </a:t>
            </a:r>
            <a:endParaRPr lang="en-GB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4E2895-DFFA-5AB1-690C-35AD551045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/>
              <a:t>Raphaël Aubry, PO HX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B652F75-0A05-16D3-A214-A242187645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1C5540D2-B0FB-4C2D-8E6C-B3F0F4855F5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0383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7EC1E60-3EA3-A073-ED24-1710FC3B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Status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DBEAE5F-C5AB-6840-503F-B39930195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/>
              <a:t>Travail terminé à 90% : code Navier-Stokes 1D (4 architectures HX)</a:t>
            </a:r>
          </a:p>
          <a:p>
            <a:pPr marL="0" indent="0">
              <a:buNone/>
            </a:pPr>
            <a:r>
              <a:rPr lang="en-GB"/>
              <a:t>	</a:t>
            </a:r>
            <a:r>
              <a:rPr lang="en-GB">
                <a:sym typeface="Wingdings" panose="05000000000000000000" pitchFamily="2" charset="2"/>
              </a:rPr>
              <a:t> Reste à implémenter un code de pré-optimisation </a:t>
            </a:r>
          </a:p>
          <a:p>
            <a:pPr marL="0" indent="0">
              <a:buNone/>
            </a:pPr>
            <a:r>
              <a:rPr lang="en-GB">
                <a:sym typeface="Wingdings" panose="05000000000000000000" pitchFamily="2" charset="2"/>
              </a:rPr>
              <a:t>	 Modifier mon EoS pour gaz réel (facteur de compressibilité jusqu’à +15% pour l’Hélium-4, 90-750K 70bar)</a:t>
            </a:r>
            <a:endParaRPr lang="en-GB"/>
          </a:p>
          <a:p>
            <a:pPr>
              <a:buFont typeface="Wingdings" panose="05000000000000000000" pitchFamily="2" charset="2"/>
              <a:buChar char="Ø"/>
            </a:pPr>
            <a:r>
              <a:rPr lang="en-GB"/>
              <a:t>Nouvelle stratégie GRTSTR1&amp;2 à prendre en compte </a:t>
            </a:r>
          </a:p>
          <a:p>
            <a:pPr marL="0" indent="0">
              <a:buNone/>
            </a:pPr>
            <a:r>
              <a:rPr lang="en-GB">
                <a:sym typeface="Wingdings" panose="05000000000000000000" pitchFamily="2" charset="2"/>
              </a:rPr>
              <a:t>	 HX à perfo réduite sur GT1 (débit/temp à définir, voir avec L.B.)</a:t>
            </a:r>
          </a:p>
          <a:p>
            <a:pPr marL="0" indent="0">
              <a:buNone/>
            </a:pPr>
            <a:r>
              <a:rPr lang="en-GB">
                <a:sym typeface="Wingdings" panose="05000000000000000000" pitchFamily="2" charset="2"/>
              </a:rPr>
              <a:t>	 HX à perfo nomiale sur GT2 (Concepts proposés aujourd’hui)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/>
              <a:t>Rapport de dimensionnement en cours finalisation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6AFEAF-33B5-EFAD-288A-6CB9F7B49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5540D2-B0FB-4C2D-8E6C-B3F0F4855F5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64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BDDA3-67D4-92DB-9EDF-8F1DD5525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6760DBF-DE78-328E-4881-603B4227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Méthode et Concepts échangeur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D467B5-28A6-1670-1859-BBC9E9C377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5540D2-B0FB-4C2D-8E6C-B3F0F4855F53}" type="slidenum">
              <a:rPr lang="fr-FR" smtClean="0"/>
              <a:t>3</a:t>
            </a:fld>
            <a:endParaRPr lang="fr-FR"/>
          </a:p>
        </p:txBody>
      </p:sp>
      <p:pic>
        <p:nvPicPr>
          <p:cNvPr id="8" name="Espace réservé du contenu 7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E783D755-0FA5-73CC-F2C8-CDACC8090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544"/>
          <a:stretch>
            <a:fillRect/>
          </a:stretch>
        </p:blipFill>
        <p:spPr>
          <a:xfrm>
            <a:off x="1108769" y="2771387"/>
            <a:ext cx="8721168" cy="1584176"/>
          </a:xfr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8B6832B6-DCAE-C937-253B-06439CFE4BB6}"/>
              </a:ext>
            </a:extLst>
          </p:cNvPr>
          <p:cNvSpPr txBox="1"/>
          <p:nvPr/>
        </p:nvSpPr>
        <p:spPr>
          <a:xfrm>
            <a:off x="1108769" y="4883333"/>
            <a:ext cx="1349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  <a:highlight>
                  <a:srgbClr val="FFFF00"/>
                </a:highlight>
              </a:rPr>
              <a:t>Injecteurs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6951CD7-30A7-9FCB-4C86-E41AAF762C13}"/>
              </a:ext>
            </a:extLst>
          </p:cNvPr>
          <p:cNvSpPr txBox="1"/>
          <p:nvPr/>
        </p:nvSpPr>
        <p:spPr>
          <a:xfrm>
            <a:off x="3503712" y="1736361"/>
            <a:ext cx="1349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  <a:highlight>
                  <a:srgbClr val="FFFF00"/>
                </a:highlight>
              </a:rPr>
              <a:t>Allumeur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B579D79-F267-D286-0690-82DEAD31BC23}"/>
              </a:ext>
            </a:extLst>
          </p:cNvPr>
          <p:cNvSpPr txBox="1"/>
          <p:nvPr/>
        </p:nvSpPr>
        <p:spPr>
          <a:xfrm>
            <a:off x="3575720" y="4744258"/>
            <a:ext cx="1349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  <a:highlight>
                  <a:srgbClr val="FFFF00"/>
                </a:highlight>
              </a:rPr>
              <a:t>Zone de mélange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B073E95-E516-F5E6-F7B5-C86A5E3F70B4}"/>
              </a:ext>
            </a:extLst>
          </p:cNvPr>
          <p:cNvSpPr txBox="1"/>
          <p:nvPr/>
        </p:nvSpPr>
        <p:spPr>
          <a:xfrm>
            <a:off x="8616280" y="1736361"/>
            <a:ext cx="1349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  <a:highlight>
                  <a:srgbClr val="FFFF00"/>
                </a:highlight>
              </a:rPr>
              <a:t>Evacuation gaz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ADED0DF-8D43-5CC0-8960-78C416166D14}"/>
              </a:ext>
            </a:extLst>
          </p:cNvPr>
          <p:cNvSpPr txBox="1"/>
          <p:nvPr/>
        </p:nvSpPr>
        <p:spPr>
          <a:xfrm>
            <a:off x="6065246" y="4850275"/>
            <a:ext cx="1740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00B050"/>
                </a:solidFill>
              </a:rPr>
              <a:t>Zone d’échange thermique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62D4124E-F012-3D9E-8DA1-19E07530A175}"/>
              </a:ext>
            </a:extLst>
          </p:cNvPr>
          <p:cNvCxnSpPr>
            <a:stCxn id="14" idx="0"/>
          </p:cNvCxnSpPr>
          <p:nvPr/>
        </p:nvCxnSpPr>
        <p:spPr>
          <a:xfrm flipV="1">
            <a:off x="1783358" y="3861048"/>
            <a:ext cx="2008386" cy="1022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56EAD858-1A7C-5C74-2866-1F96D991BB92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4250309" y="4005064"/>
            <a:ext cx="0" cy="739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C786DFE3-FA03-C4C3-6D86-C128258AEFAA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178301" y="2105693"/>
            <a:ext cx="0" cy="567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AF1998DF-BDE6-E8CF-33DA-FF147C498E42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717259" y="4077072"/>
            <a:ext cx="218277" cy="77320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E9C19948-90A8-468E-7D51-38CAE5DECC51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8544272" y="2382692"/>
            <a:ext cx="746597" cy="806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au 32">
            <a:extLst>
              <a:ext uri="{FF2B5EF4-FFF2-40B4-BE49-F238E27FC236}">
                <a16:creationId xmlns:a16="http://schemas.microsoft.com/office/drawing/2014/main" id="{27241F25-FF7A-D64A-F0A7-D04C83752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491018"/>
              </p:ext>
            </p:extLst>
          </p:nvPr>
        </p:nvGraphicFramePr>
        <p:xfrm>
          <a:off x="267131" y="1256354"/>
          <a:ext cx="2551832" cy="918986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551832">
                  <a:extLst>
                    <a:ext uri="{9D8B030D-6E8A-4147-A177-3AD203B41FA5}">
                      <a16:colId xmlns:a16="http://schemas.microsoft.com/office/drawing/2014/main" val="265989620"/>
                    </a:ext>
                  </a:extLst>
                </a:gridCol>
              </a:tblGrid>
              <a:tr h="459493"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accent2"/>
                          </a:solidFill>
                        </a:rPr>
                        <a:t>Masse sèche fixe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639392"/>
                  </a:ext>
                </a:extLst>
              </a:tr>
              <a:tr h="459493"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rgbClr val="00B050"/>
                          </a:solidFill>
                        </a:rPr>
                        <a:t>Masse sèche 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223992"/>
                  </a:ext>
                </a:extLst>
              </a:tr>
            </a:tbl>
          </a:graphicData>
        </a:graphic>
      </p:graphicFrame>
      <p:sp>
        <p:nvSpPr>
          <p:cNvPr id="34" name="ZoneTexte 33">
            <a:extLst>
              <a:ext uri="{FF2B5EF4-FFF2-40B4-BE49-F238E27FC236}">
                <a16:creationId xmlns:a16="http://schemas.microsoft.com/office/drawing/2014/main" id="{3C5C4A15-792C-ABE3-C7CB-C220D2B661C8}"/>
              </a:ext>
            </a:extLst>
          </p:cNvPr>
          <p:cNvSpPr txBox="1"/>
          <p:nvPr/>
        </p:nvSpPr>
        <p:spPr>
          <a:xfrm>
            <a:off x="8760296" y="4951610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rgbClr val="00B050"/>
                </a:solidFill>
              </a:rPr>
              <a:t>4 concepts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76FCE57C-F713-7A82-14F4-CF822F8BEA30}"/>
              </a:ext>
            </a:extLst>
          </p:cNvPr>
          <p:cNvCxnSpPr>
            <a:stCxn id="18" idx="3"/>
          </p:cNvCxnSpPr>
          <p:nvPr/>
        </p:nvCxnSpPr>
        <p:spPr>
          <a:xfrm flipV="1">
            <a:off x="7805826" y="5173440"/>
            <a:ext cx="810454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4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8C9B6-16B5-B9FD-699D-1E50003E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59F84ED-5596-0FB3-F146-66C0A889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Méthode de première approche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E12B331-B34D-3D6E-B3DD-BB1D73BDE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/>
              <a:t>Fixer un volume max approximatif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/>
              <a:t>0.1x1m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/>
              <a:t>Pour chaque concept, étudier l’espace des solutions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/>
          </a:p>
          <a:p>
            <a:pPr lvl="1">
              <a:buFont typeface="Wingdings" panose="05000000000000000000" pitchFamily="2" charset="2"/>
              <a:buChar char="Ø"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016C79-CBD0-E612-FA7F-DC2A2AB621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5540D2-B0FB-4C2D-8E6C-B3F0F4855F5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186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B6FA-0E97-D659-76A6-6B3A1F560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465C133-CDE5-BFA4-64BE-0C9C3EBC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Concepts échangeur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A34C41-C0CE-8BF8-1B6F-16CC55777E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5540D2-B0FB-4C2D-8E6C-B3F0F4855F53}" type="slidenum">
              <a:rPr lang="fr-FR" smtClean="0"/>
              <a:t>5</a:t>
            </a:fld>
            <a:endParaRPr lang="fr-FR"/>
          </a:p>
        </p:txBody>
      </p:sp>
      <p:pic>
        <p:nvPicPr>
          <p:cNvPr id="8" name="Espace réservé du contenu 7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A16C45F2-87A8-0C1D-7424-677EA8109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544"/>
          <a:stretch>
            <a:fillRect/>
          </a:stretch>
        </p:blipFill>
        <p:spPr>
          <a:xfrm>
            <a:off x="1519392" y="1424561"/>
            <a:ext cx="8721168" cy="1584176"/>
          </a:xfrm>
        </p:spPr>
      </p:pic>
      <p:pic>
        <p:nvPicPr>
          <p:cNvPr id="9" name="Espace réservé du contenu 7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6550A409-875E-A5C9-1C89-063789E026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24" b="40186"/>
          <a:stretch>
            <a:fillRect/>
          </a:stretch>
        </p:blipFill>
        <p:spPr bwMode="auto">
          <a:xfrm>
            <a:off x="128526" y="5023723"/>
            <a:ext cx="5858308" cy="1017479"/>
          </a:xfrm>
          <a:prstGeom prst="rect">
            <a:avLst/>
          </a:prstGeom>
        </p:spPr>
      </p:pic>
      <p:pic>
        <p:nvPicPr>
          <p:cNvPr id="11" name="Espace réservé du contenu 7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53B706CC-68A3-F887-F82E-2D4E8AA4B2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437" b="-1111"/>
          <a:stretch>
            <a:fillRect/>
          </a:stretch>
        </p:blipFill>
        <p:spPr bwMode="auto">
          <a:xfrm>
            <a:off x="6092552" y="5028459"/>
            <a:ext cx="5916967" cy="903521"/>
          </a:xfrm>
          <a:prstGeom prst="rect">
            <a:avLst/>
          </a:prstGeom>
        </p:spPr>
      </p:pic>
      <p:pic>
        <p:nvPicPr>
          <p:cNvPr id="12" name="Espace réservé du contenu 7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F1566614-79A0-0EEB-BA56-1301F49BC4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12" b="61937"/>
          <a:stretch>
            <a:fillRect/>
          </a:stretch>
        </p:blipFill>
        <p:spPr bwMode="auto">
          <a:xfrm>
            <a:off x="203719" y="3502973"/>
            <a:ext cx="5707923" cy="977161"/>
          </a:xfrm>
          <a:prstGeom prst="rect">
            <a:avLst/>
          </a:prstGeom>
        </p:spPr>
      </p:pic>
      <p:pic>
        <p:nvPicPr>
          <p:cNvPr id="13" name="Espace réservé du contenu 7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9DE24B24-017C-1535-A4CE-C6BB78C74D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24" b="19186"/>
          <a:stretch>
            <a:fillRect/>
          </a:stretch>
        </p:blipFill>
        <p:spPr bwMode="auto">
          <a:xfrm>
            <a:off x="6092552" y="3502972"/>
            <a:ext cx="5836096" cy="97716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60439DD-7B9D-E127-0A13-A93687E15241}"/>
              </a:ext>
            </a:extLst>
          </p:cNvPr>
          <p:cNvSpPr txBox="1"/>
          <p:nvPr/>
        </p:nvSpPr>
        <p:spPr>
          <a:xfrm>
            <a:off x="1309436" y="3165634"/>
            <a:ext cx="3496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>
                <a:solidFill>
                  <a:schemeClr val="bg1"/>
                </a:solidFill>
              </a:rPr>
              <a:t>Flux d’hélium axial à la chambre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AC4E678-18EE-7118-45FB-D9C611BDEB92}"/>
              </a:ext>
            </a:extLst>
          </p:cNvPr>
          <p:cNvSpPr txBox="1"/>
          <p:nvPr/>
        </p:nvSpPr>
        <p:spPr>
          <a:xfrm>
            <a:off x="7302791" y="3185751"/>
            <a:ext cx="3496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>
                <a:solidFill>
                  <a:schemeClr val="bg1"/>
                </a:solidFill>
              </a:rPr>
              <a:t>Flux d’hélium hélice en un canal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45F0259-F1C6-78B5-4473-DBE220005A00}"/>
              </a:ext>
            </a:extLst>
          </p:cNvPr>
          <p:cNvSpPr txBox="1"/>
          <p:nvPr/>
        </p:nvSpPr>
        <p:spPr>
          <a:xfrm>
            <a:off x="1095245" y="4648196"/>
            <a:ext cx="3924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>
                <a:solidFill>
                  <a:schemeClr val="bg1"/>
                </a:solidFill>
              </a:rPr>
              <a:t>Flux d’hélium axial à la chambre avec ailettes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880EF8-817D-77AD-8BF6-8BF0D8F166A2}"/>
              </a:ext>
            </a:extLst>
          </p:cNvPr>
          <p:cNvSpPr txBox="1"/>
          <p:nvPr/>
        </p:nvSpPr>
        <p:spPr>
          <a:xfrm>
            <a:off x="7464152" y="4698836"/>
            <a:ext cx="3496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>
                <a:solidFill>
                  <a:schemeClr val="bg1"/>
                </a:solidFill>
              </a:rPr>
              <a:t>Tube hélice et brûleur calendre/coque </a:t>
            </a:r>
          </a:p>
        </p:txBody>
      </p:sp>
    </p:spTree>
    <p:extLst>
      <p:ext uri="{BB962C8B-B14F-4D97-AF65-F5344CB8AC3E}">
        <p14:creationId xmlns:p14="http://schemas.microsoft.com/office/powerpoint/2010/main" val="2438892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F2DE5-F831-39DA-569F-464EC3BB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CD8A5B6-0EFD-B155-9EF2-2984F284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Concepts échangeur – sans optim - </a:t>
            </a:r>
            <a:r>
              <a:rPr lang="en-GB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≈0.1x1m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67CC4E-397D-92AC-E2BF-F2C809A592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5540D2-B0FB-4C2D-8E6C-B3F0F4855F53}" type="slidenum">
              <a:rPr lang="fr-FR" smtClean="0"/>
              <a:t>6</a:t>
            </a:fld>
            <a:endParaRPr lang="fr-FR"/>
          </a:p>
        </p:txBody>
      </p:sp>
      <p:pic>
        <p:nvPicPr>
          <p:cNvPr id="9" name="Espace réservé du contenu 7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047BE425-F8B2-9443-1F1D-3CD035CF7C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24" b="40186"/>
          <a:stretch>
            <a:fillRect/>
          </a:stretch>
        </p:blipFill>
        <p:spPr bwMode="auto">
          <a:xfrm>
            <a:off x="175918" y="2735025"/>
            <a:ext cx="5858308" cy="1017479"/>
          </a:xfrm>
          <a:prstGeom prst="rect">
            <a:avLst/>
          </a:prstGeom>
        </p:spPr>
      </p:pic>
      <p:pic>
        <p:nvPicPr>
          <p:cNvPr id="11" name="Espace réservé du contenu 7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38B08AED-8DFF-19EF-3ABE-98654D58D8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437" b="-1111"/>
          <a:stretch>
            <a:fillRect/>
          </a:stretch>
        </p:blipFill>
        <p:spPr bwMode="auto">
          <a:xfrm>
            <a:off x="254637" y="5480009"/>
            <a:ext cx="5916967" cy="903521"/>
          </a:xfrm>
          <a:prstGeom prst="rect">
            <a:avLst/>
          </a:prstGeom>
        </p:spPr>
      </p:pic>
      <p:pic>
        <p:nvPicPr>
          <p:cNvPr id="12" name="Espace réservé du contenu 7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E5AC77BE-0A6C-CD23-C2B7-5F67233DD3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12" b="61937"/>
          <a:stretch>
            <a:fillRect/>
          </a:stretch>
        </p:blipFill>
        <p:spPr bwMode="auto">
          <a:xfrm>
            <a:off x="175918" y="1325655"/>
            <a:ext cx="5707923" cy="977161"/>
          </a:xfrm>
          <a:prstGeom prst="rect">
            <a:avLst/>
          </a:prstGeom>
        </p:spPr>
      </p:pic>
      <p:pic>
        <p:nvPicPr>
          <p:cNvPr id="13" name="Espace réservé du contenu 7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9365E544-2FC3-0402-06A6-AD2B40E9F4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24" b="19186"/>
          <a:stretch>
            <a:fillRect/>
          </a:stretch>
        </p:blipFill>
        <p:spPr bwMode="auto">
          <a:xfrm>
            <a:off x="203719" y="4179122"/>
            <a:ext cx="5836096" cy="977162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EB6F4487-C96E-6C3E-0849-C02E29843218}"/>
              </a:ext>
            </a:extLst>
          </p:cNvPr>
          <p:cNvSpPr txBox="1"/>
          <p:nvPr/>
        </p:nvSpPr>
        <p:spPr>
          <a:xfrm>
            <a:off x="8904312" y="3413950"/>
            <a:ext cx="37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solidFill>
                  <a:schemeClr val="bg1"/>
                </a:solidFill>
              </a:rPr>
              <a:t>M_tot_sèche+ergols = 50kg ±5kg</a:t>
            </a:r>
          </a:p>
          <a:p>
            <a:endParaRPr lang="fr-FR" sz="1600">
              <a:solidFill>
                <a:schemeClr val="bg1"/>
              </a:solidFill>
            </a:endParaRPr>
          </a:p>
          <a:p>
            <a:r>
              <a:rPr lang="fr-FR" sz="1600">
                <a:solidFill>
                  <a:schemeClr val="bg1"/>
                </a:solidFill>
              </a:rPr>
              <a:t>Masse_tot_sèche = 7-20kg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7531104-C73B-E91F-565C-E615E5E6B827}"/>
              </a:ext>
            </a:extLst>
          </p:cNvPr>
          <p:cNvCxnSpPr/>
          <p:nvPr/>
        </p:nvCxnSpPr>
        <p:spPr>
          <a:xfrm>
            <a:off x="8688288" y="1196752"/>
            <a:ext cx="0" cy="511145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AC518FFD-9265-C6E5-54F7-2FF8A0B0CE41}"/>
              </a:ext>
            </a:extLst>
          </p:cNvPr>
          <p:cNvSpPr txBox="1"/>
          <p:nvPr/>
        </p:nvSpPr>
        <p:spPr>
          <a:xfrm>
            <a:off x="6759057" y="4498426"/>
            <a:ext cx="141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solidFill>
                  <a:schemeClr val="bg1"/>
                </a:solidFill>
              </a:rPr>
              <a:t>273kW ±10kW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26A1B27-73D9-CAAE-0EB8-6DB2B4717F86}"/>
              </a:ext>
            </a:extLst>
          </p:cNvPr>
          <p:cNvSpPr txBox="1"/>
          <p:nvPr/>
        </p:nvSpPr>
        <p:spPr>
          <a:xfrm>
            <a:off x="6759057" y="5762492"/>
            <a:ext cx="141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solidFill>
                  <a:schemeClr val="bg1"/>
                </a:solidFill>
              </a:rPr>
              <a:t>273kW ±10kW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DC477D1-8FC0-C5DA-76BA-3C32028C8E8A}"/>
              </a:ext>
            </a:extLst>
          </p:cNvPr>
          <p:cNvSpPr txBox="1"/>
          <p:nvPr/>
        </p:nvSpPr>
        <p:spPr>
          <a:xfrm>
            <a:off x="6748677" y="3121450"/>
            <a:ext cx="141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solidFill>
                  <a:schemeClr val="bg1"/>
                </a:solidFill>
              </a:rPr>
              <a:t>221kW ±10kW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FB51CF8-72A3-1016-C3A5-C56127099A1D}"/>
              </a:ext>
            </a:extLst>
          </p:cNvPr>
          <p:cNvSpPr txBox="1"/>
          <p:nvPr/>
        </p:nvSpPr>
        <p:spPr>
          <a:xfrm>
            <a:off x="6759057" y="1620657"/>
            <a:ext cx="141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solidFill>
                  <a:schemeClr val="bg1"/>
                </a:solidFill>
              </a:rPr>
              <a:t>310kW ±10kW</a:t>
            </a:r>
          </a:p>
        </p:txBody>
      </p:sp>
    </p:spTree>
    <p:extLst>
      <p:ext uri="{BB962C8B-B14F-4D97-AF65-F5344CB8AC3E}">
        <p14:creationId xmlns:p14="http://schemas.microsoft.com/office/powerpoint/2010/main" val="3093290189"/>
      </p:ext>
    </p:extLst>
  </p:cSld>
  <p:clrMapOvr>
    <a:masterClrMapping/>
  </p:clrMapOvr>
</p:sld>
</file>

<file path=ppt/theme/theme1.xml><?xml version="1.0" encoding="utf-8"?>
<a:theme xmlns:a="http://schemas.openxmlformats.org/drawingml/2006/main" name="HyPrSpace template blue">
  <a:themeElements>
    <a:clrScheme name="Personnalisé 1">
      <a:dk1>
        <a:srgbClr val="162159"/>
      </a:dk1>
      <a:lt1>
        <a:sysClr val="window" lastClr="FFFFFF"/>
      </a:lt1>
      <a:dk2>
        <a:srgbClr val="E2051B"/>
      </a:dk2>
      <a:lt2>
        <a:srgbClr val="7889DE"/>
      </a:lt2>
      <a:accent1>
        <a:srgbClr val="A40413"/>
      </a:accent1>
      <a:accent2>
        <a:srgbClr val="1C1C1C"/>
      </a:accent2>
      <a:accent3>
        <a:srgbClr val="A5A5A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tx1">
            <a:alpha val="90000"/>
          </a:schemeClr>
        </a:solidFill>
        <a:ln w="9525" cap="flat">
          <a:noFill/>
          <a:prstDash val="solid"/>
          <a:miter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Information memorandum v1.9" id="{0FE5253A-9151-4451-90E7-2E2497364FB0}" vid="{1852C980-C28C-41B7-88F1-72A70E63ABA7}"/>
    </a:ext>
  </a:extLst>
</a:theme>
</file>

<file path=ppt/theme/theme2.xml><?xml version="1.0" encoding="utf-8"?>
<a:theme xmlns:a="http://schemas.openxmlformats.org/drawingml/2006/main" name="HyPrSpace template white">
  <a:themeElements>
    <a:clrScheme name="Personnalisé 1">
      <a:dk1>
        <a:srgbClr val="162159"/>
      </a:dk1>
      <a:lt1>
        <a:sysClr val="window" lastClr="FFFFFF"/>
      </a:lt1>
      <a:dk2>
        <a:srgbClr val="E2051B"/>
      </a:dk2>
      <a:lt2>
        <a:srgbClr val="7889DE"/>
      </a:lt2>
      <a:accent1>
        <a:srgbClr val="A40413"/>
      </a:accent1>
      <a:accent2>
        <a:srgbClr val="1C1C1C"/>
      </a:accent2>
      <a:accent3>
        <a:srgbClr val="A5A5A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tx1">
            <a:alpha val="90000"/>
          </a:schemeClr>
        </a:solidFill>
        <a:ln w="9525" cap="flat">
          <a:noFill/>
          <a:prstDash val="solid"/>
          <a:miter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Information memorandum v1.9" id="{0FE5253A-9151-4451-90E7-2E2497364FB0}" vid="{6FA6C577-8306-445B-8AF4-9B0640D03B14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HyPrSpace (2)</Template>
  <TotalTime>1734</TotalTime>
  <Words>215</Words>
  <Application>Microsoft Office PowerPoint</Application>
  <DocSecurity>0</DocSecurity>
  <PresentationFormat>Grand écran</PresentationFormat>
  <Paragraphs>44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6</vt:i4>
      </vt:variant>
    </vt:vector>
  </HeadingPairs>
  <TitlesOfParts>
    <vt:vector size="15" baseType="lpstr">
      <vt:lpstr>Arial</vt:lpstr>
      <vt:lpstr>Bebas Kai</vt:lpstr>
      <vt:lpstr>Calibri</vt:lpstr>
      <vt:lpstr>Roboto</vt:lpstr>
      <vt:lpstr>Roboto Light</vt:lpstr>
      <vt:lpstr>Roboto Medium</vt:lpstr>
      <vt:lpstr>Wingdings</vt:lpstr>
      <vt:lpstr>HyPrSpace template blue</vt:lpstr>
      <vt:lpstr>HyPrSpace template white</vt:lpstr>
      <vt:lpstr>Weekly HX</vt:lpstr>
      <vt:lpstr>Status</vt:lpstr>
      <vt:lpstr>Méthode et Concepts échangeur</vt:lpstr>
      <vt:lpstr>Méthode de première approche</vt:lpstr>
      <vt:lpstr>Concepts échangeur</vt:lpstr>
      <vt:lpstr>Concepts échangeur – sans optim - ≈0.1x1m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Quentin Clément</dc:creator>
  <cp:keywords/>
  <dc:description/>
  <cp:lastModifiedBy>Raphaël Aubry</cp:lastModifiedBy>
  <cp:revision>5</cp:revision>
  <dcterms:created xsi:type="dcterms:W3CDTF">2024-10-11T13:24:31Z</dcterms:created>
  <dcterms:modified xsi:type="dcterms:W3CDTF">2025-08-20T17:22:02Z</dcterms:modified>
  <cp:category/>
  <dc:identifier/>
  <cp:contentStatus/>
  <dc:language/>
  <cp:version/>
</cp:coreProperties>
</file>